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df21aaf3ed4e2a" /><Relationship Type="http://schemas.openxmlformats.org/officeDocument/2006/relationships/extended-properties" Target="/docProps/app.xml" Id="Rdb3e4b34d69a4fd4" /><Relationship Type="http://schemas.openxmlformats.org/officeDocument/2006/relationships/officeDocument" Target="/ppt/presentation.xml" Id="R96dddcc33d1142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30706f2524a1e"/>
  </p:sldMasterIdLst>
  <p:notesMasterIdLst>
    <p:notesMasterId xmlns:r="http://schemas.openxmlformats.org/officeDocument/2006/relationships" r:id="R039e83186f174c54"/>
  </p:notesMasterIdLst>
  <p:sldIdLst>
    <p:sldId xmlns:r="http://schemas.openxmlformats.org/officeDocument/2006/relationships" id="256" r:id="Rf8f9740cdd954c1c"/>
    <p:sldId xmlns:r="http://schemas.openxmlformats.org/officeDocument/2006/relationships" id="257" r:id="R72b1da60d8ba4a33"/>
    <p:sldId xmlns:r="http://schemas.openxmlformats.org/officeDocument/2006/relationships" id="258" r:id="R661cb9d2e7d842cc"/>
    <p:sldId xmlns:r="http://schemas.openxmlformats.org/officeDocument/2006/relationships" id="259" r:id="R91da395ee002495d"/>
    <p:sldId xmlns:r="http://schemas.openxmlformats.org/officeDocument/2006/relationships" id="260" r:id="R03b30496ad3744c6"/>
    <p:sldId xmlns:r="http://schemas.openxmlformats.org/officeDocument/2006/relationships" id="261" r:id="Rf84f3a4b0f58419d"/>
    <p:sldId xmlns:r="http://schemas.openxmlformats.org/officeDocument/2006/relationships" id="262" r:id="Ra22d774f3eb34065"/>
    <p:sldId xmlns:r="http://schemas.openxmlformats.org/officeDocument/2006/relationships" id="263" r:id="R87f8345afe0141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30706f2524a1e" /><Relationship Type="http://schemas.openxmlformats.org/officeDocument/2006/relationships/theme" Target="/ppt/theme/theme1.xml" Id="R98e3ce40655f4e50" /><Relationship Type="http://schemas.openxmlformats.org/officeDocument/2006/relationships/notesMaster" Target="/ppt/notesMasters/notesMaster1.xml" Id="R039e83186f174c54" /><Relationship Type="http://schemas.openxmlformats.org/officeDocument/2006/relationships/presProps" Target="/ppt/presProps.xml" Id="Rf523e97ffa934ace" /><Relationship Type="http://schemas.openxmlformats.org/officeDocument/2006/relationships/viewProps" Target="/ppt/viewProps.xml" Id="Rc49436425845447f" /><Relationship Type="http://schemas.openxmlformats.org/officeDocument/2006/relationships/tableStyles" Target="/ppt/tableStyles.xml" Id="R95d09c8076e74a5d" /><Relationship Type="http://schemas.openxmlformats.org/officeDocument/2006/relationships/slide" Target="/ppt/slides/slide1.xml" Id="Rf8f9740cdd954c1c" /><Relationship Type="http://schemas.openxmlformats.org/officeDocument/2006/relationships/slide" Target="/ppt/slides/slide2.xml" Id="R72b1da60d8ba4a33" /><Relationship Type="http://schemas.openxmlformats.org/officeDocument/2006/relationships/slide" Target="/ppt/slides/slide3.xml" Id="R661cb9d2e7d842cc" /><Relationship Type="http://schemas.openxmlformats.org/officeDocument/2006/relationships/slide" Target="/ppt/slides/slide4.xml" Id="R91da395ee002495d" /><Relationship Type="http://schemas.openxmlformats.org/officeDocument/2006/relationships/slide" Target="/ppt/slides/slide5.xml" Id="R03b30496ad3744c6" /><Relationship Type="http://schemas.openxmlformats.org/officeDocument/2006/relationships/slide" Target="/ppt/slides/slide6.xml" Id="Rf84f3a4b0f58419d" /><Relationship Type="http://schemas.openxmlformats.org/officeDocument/2006/relationships/slide" Target="/ppt/slides/slide7.xml" Id="Ra22d774f3eb34065" /><Relationship Type="http://schemas.openxmlformats.org/officeDocument/2006/relationships/slide" Target="/ppt/slides/slide8.xml" Id="R87f8345afe0141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dd6b6c608b3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adeb40945e47af" /><Relationship Type="http://schemas.openxmlformats.org/officeDocument/2006/relationships/notesMaster" Target="/ppt/notesMasters/notesMaster1.xml" Id="Rf1a025bbc4cb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cc46212d834561" /><Relationship Type="http://schemas.openxmlformats.org/officeDocument/2006/relationships/notesMaster" Target="/ppt/notesMasters/notesMaster1.xml" Id="Reb7093bdea9c44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cf85619b44586" /><Relationship Type="http://schemas.openxmlformats.org/officeDocument/2006/relationships/notesMaster" Target="/ppt/notesMasters/notesMaster1.xml" Id="Ra1e9b32f1def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fbbc25a48476b" /><Relationship Type="http://schemas.openxmlformats.org/officeDocument/2006/relationships/notesMaster" Target="/ppt/notesMasters/notesMaster1.xml" Id="R7f0596627c5341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ff9c8206ba4aa2" /><Relationship Type="http://schemas.openxmlformats.org/officeDocument/2006/relationships/notesMaster" Target="/ppt/notesMasters/notesMaster1.xml" Id="R7b2c404b9a4a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d8f4be7c874c0f" /><Relationship Type="http://schemas.openxmlformats.org/officeDocument/2006/relationships/notesMaster" Target="/ppt/notesMasters/notesMaster1.xml" Id="R5054a6605edf4f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e66887ebb453f" /><Relationship Type="http://schemas.openxmlformats.org/officeDocument/2006/relationships/notesMaster" Target="/ppt/notesMasters/notesMaster1.xml" Id="R0d470a6819784f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fe987ad5a44fd" /><Relationship Type="http://schemas.openxmlformats.org/officeDocument/2006/relationships/notesMaster" Target="/ppt/notesMasters/notesMaster1.xml" Id="R2d33eb46bee5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b0b7847fb49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104985bb2a46be" /><Relationship Type="http://schemas.openxmlformats.org/officeDocument/2006/relationships/slideLayout" Target="/ppt/slideLayouts/slideLayout2.xml" Id="R9a2bdf7eba41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bdf7eba41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e6a73b28444fe" /><Relationship Type="http://schemas.openxmlformats.org/officeDocument/2006/relationships/notesSlide" Target="/ppt/notesSlides/notesSlide1.xml" Id="Ref6930ddcd97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e14b1914624eaf" /><Relationship Type="http://schemas.openxmlformats.org/officeDocument/2006/relationships/notesSlide" Target="/ppt/notesSlides/notesSlide2.xml" Id="R41b90b27f029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8901915b2c4fd3" /><Relationship Type="http://schemas.openxmlformats.org/officeDocument/2006/relationships/notesSlide" Target="/ppt/notesSlides/notesSlide3.xml" Id="R783c01ae832745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a2f6ea56214c35" /><Relationship Type="http://schemas.openxmlformats.org/officeDocument/2006/relationships/notesSlide" Target="/ppt/notesSlides/notesSlide4.xml" Id="Rae079a3bf67145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e9028e3bc48f9" /><Relationship Type="http://schemas.openxmlformats.org/officeDocument/2006/relationships/notesSlide" Target="/ppt/notesSlides/notesSlide5.xml" Id="Rb7a9dc2ebfdd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d82a3230f54895" /><Relationship Type="http://schemas.openxmlformats.org/officeDocument/2006/relationships/notesSlide" Target="/ppt/notesSlides/notesSlide6.xml" Id="Rc917f9b43675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5136e8d6449c0" /><Relationship Type="http://schemas.openxmlformats.org/officeDocument/2006/relationships/notesSlide" Target="/ppt/notesSlides/notesSlide7.xml" Id="Rde91d74192c64e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2317d697c94321" /><Relationship Type="http://schemas.openxmlformats.org/officeDocument/2006/relationships/notesSlide" Target="/ppt/notesSlides/notesSlide8.xml" Id="R283f1cae04664e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E3F5162-AC0B-48B0-BE62-F7E9612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">
            <a:extLst xmlns:a="http://schemas.openxmlformats.org/drawingml/2006/main">
              <a:ext uri="{FF2B5EF4-FFF2-40B4-BE49-F238E27FC236}">
                <a16:creationId xmlns:a16="http://schemas.microsoft.com/office/drawing/2014/main" id="{730E824F-9017-4EA6-9AE2-051435C6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">
            <a:extLst xmlns:a="http://schemas.openxmlformats.org/drawingml/2006/main">
              <a:ext uri="{FF2B5EF4-FFF2-40B4-BE49-F238E27FC236}">
                <a16:creationId xmlns:a16="http://schemas.microsoft.com/office/drawing/2014/main" id="{230C7079-C510-4102-9BA7-870C1102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93822-A1E7-4BBE-AA05-8F6DA36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405B0-7123-4DCB-8522-2BFC071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本次完成的是 paper-aligned processed-data baseline reproduction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081BB-7BCB-4C09-95D9-86BD1587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可汇报的核心不是“完全复现”，而是把公开证据链、可重复 baseline、metric gap 和 provenance 限制讲清楚。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E3DD-F6EC-40B1-92B8-79E8556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CDB85-AB9F-4C3A-9C07-94DC74B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FA45A-BD4B-44E2-B93F-945809BE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357 x 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6D4B3-138A-42A6-AF04-F8385956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original RFE44 workbook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873B3-FDF7-4E51-B67D-6DA837B2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paper-aligned public processed table; 330 composition groups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2A8E8-87EA-4F4B-8BE6-C94E5CCE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81A57-BAE6-4A02-ACAB-2DB104CD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84FD7-085E-47FB-94B0-AA82C604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0.154993 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6B27C-13B5-4A7E-A43C-0E2F4F92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813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closest local rerun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C2C4A-553F-43B7-8A39-34C9A0A4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CPU unseeded/default; fold-mean MAE vs notebook saved 0.153388 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58F1E-A496-4333-A8E7-749D736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D6540-2452-40AD-8C10-336C928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65EFB-758A-40F1-AE6E-AB461982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0.161535 eV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84BAA-0047-40D2-AE1B-759FAA2B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baseline MAE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AE847-929F-4649-82E4-948EA88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CPU seed=42; repeatable project baseline, not the closest notebook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B90FC-DA73-4F42-A026-94EF692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BA3C2-63D3-4886-A36B-D811FB3A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C44E0-F0F7-4F76-9CFE-8DCAFA5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946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C71D4-0EF6-4E8E-BB43-2FA0098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46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可以说：完成 paper-aligned 357-row public processed-data baseline reproduction。不要说：完全复现或 provenance-faithful full reproduction。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F6E2A-2B48-46DE-8001-5DF3FB86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95B55-1F24-4A1D-987A-E59F551D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19775"/>
            <a:ext cx="453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Literature Fact + Model Inference + Experiment Hypothesis 分层汇报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3E6E4-9A37-4220-A083-DC0A67B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B66E76-4B5A-4932-97C8-3F77070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reproductions/ce3_original_baseline/report.md; reproductions/ce3_original_metric_gap/report.md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476F84-FFD8-4B0D-BCAA-3FDB918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4755241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56C005F-5EB8-4313-8172-F5DA0C45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2">
            <a:extLst xmlns:a="http://schemas.openxmlformats.org/drawingml/2006/main">
              <a:ext uri="{FF2B5EF4-FFF2-40B4-BE49-F238E27FC236}">
                <a16:creationId xmlns:a16="http://schemas.microsoft.com/office/drawing/2014/main" id="{F5A9A9B6-9B8E-46AD-B326-4235977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2">
            <a:extLst xmlns:a="http://schemas.openxmlformats.org/drawingml/2006/main">
              <a:ext uri="{FF2B5EF4-FFF2-40B4-BE49-F238E27FC236}">
                <a16:creationId xmlns:a16="http://schemas.microsoft.com/office/drawing/2014/main" id="{E59C9458-2A19-4C57-883D-A85DC0A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SOURCE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30EBC-316D-4D27-BB16-B8D421F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BB2C4-BA19-4AA7-B571-EF7C765F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DOI/DataCite 把 paper-aligned 复现对象指向 original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08C3-19C4-40CF-BE34-FD79219B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先确定源头，再谈模型：DataCite related identifier 指向 NL0119/Ce_5d1_Prediction/tree/original。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3A70-6EDD-423C-ACA2-9CB7957C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0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ADB9F-0F00-42D4-99B7-D47EEEBF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6BD64-5C14-45C9-AE4E-F2803F9D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17F89-127D-477B-A75E-D9FE6B9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arXiv:2502.18859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4C120-DDE7-44A4-8315-B7A1BE66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paper/source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58DF4-9867-4334-AD1B-D2481A2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99388-935A-45CB-9487-621FAA11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57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A3BA4-5E7D-4E2B-8F4F-EA6095A7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MRS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212BD-E465-4AF5-B712-3C35D42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00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conference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EABAC-08EA-4E13-8859-FC43BD5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7B744-2DDD-4BF8-8E14-B5D27057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41014-A313-43BA-95EC-AE9618C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57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Zenodo DOI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DF520-566B-4577-BF5B-B1DB457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10.5281/zenodo.14872504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0C2C3-A80E-4A1C-B37A-FE5881DD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3ACAD-78DA-400A-962A-BD9837B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57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E3169-74B2-4380-8B14-C71A8431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57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DataCite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CE235-D813-4A05-8508-7C9C885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00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IsSupplementTo tree/original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22485-72E3-46E2-B673-FED6E65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2D90E-5D2E-45FF-92C9-F008807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57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2576A-F766-4339-84BC-BB3F196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57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GitHub original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A3CDE-0755-4EB2-8346-986DC8E8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357-row workbook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B8828-414F-4A2B-A623-30F7C40D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D1F45-06D5-4E5C-BE26-AF4E43B7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2575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424F7-17E6-4CC2-B29A-060AE680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857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audits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4638C-C015-4630-8C97-193D47E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400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baseline + metric gap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A5D2A-0E5A-48FF-8C6C-77F8F76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4"/>
          </a:solidFill>
          <a:ln xmlns:a="http://schemas.openxmlformats.org/drawingml/2006/main" w="7620">
            <a:solidFill>
              <a:srgbClr val="D6DD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3B046-5691-47C7-B26E-ECD03E3D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Literature Fact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86CCF4-3D24-46B4-9990-0B86AC4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8334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BB6F0A-CE6D-48B1-8CF9-8D6E917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F64F8-6D5F-4B7B-8B55-8648D4C2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7991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3AB8CB-0077-4937-8717-1CBF6951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7991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Zenodo direct payload/checksum routes returned HTTP 403 locally; DOI/DataCite metadata still supports the GitHub original-release link.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08208-474E-4233-B996-EAE1551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0AB05-3A15-4B68-A2A2-683B004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notes/source-audit-ce3-excitation-band-baseline.md; notes/zenodo-github-version-audit.md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DB1F4-907A-4346-9703-26E809BC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9617296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D5E0496-A110-419F-8BB6-78A556A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3">
            <a:extLst xmlns:a="http://schemas.openxmlformats.org/drawingml/2006/main">
              <a:ext uri="{FF2B5EF4-FFF2-40B4-BE49-F238E27FC236}">
                <a16:creationId xmlns:a16="http://schemas.microsoft.com/office/drawing/2014/main" id="{2F3F048C-E7BE-4B36-ADE1-70551EAA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3">
            <a:extLst xmlns:a="http://schemas.openxmlformats.org/drawingml/2006/main">
              <a:ext uri="{FF2B5EF4-FFF2-40B4-BE49-F238E27FC236}">
                <a16:creationId xmlns:a16="http://schemas.microsoft.com/office/drawing/2014/main" id="{56A5E3AD-0495-49FA-A96D-2EAF808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VERSION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E4B07-3E23-4034-A264-A6FC545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817AD-A98E-4FA2-BF6B-67A6E095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357-row original 与 358-row main 是版本漂移，指标不能混用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7EB5-001C-4DBA-9937-1C49776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两张 workbook 不只是差一行：feature schema、row/target multiset 和 notebook code path 都不完全相同。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C9DB9-FD9A-4423-B21E-8756852D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4"/>
          </a:solidFill>
          <a:ln xmlns:a="http://schemas.openxmlformats.org/drawingml/2006/main" w="11430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FF0CA-8910-4391-9B5F-0B38D5D8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NL0119@original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7EAD4-1815-4DEF-AADC-EB1712EA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paper-aligned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4B720-0B34-4BE2-BD0B-6A205DA5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Training_Set_for_5d1.xlsx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3B978-797D-461A-BFCF-5231515E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357 rows / 46 columns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3ED43-E52B-4F28-B4C2-839F2996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RFE44; 330 unique compositions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9D100-D730-4916-86CE-456780DA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CBD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CE809-0EFD-4071-88A2-AD51253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BrgochGroup@main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B44C0-EA0E-486C-8548-6E5B2296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C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8C2F"/>
                </a:solidFill>
                <a:latin typeface="Aptos"/>
                <a:ea typeface="Aptos"/>
                <a:cs typeface="Aptos"/>
              </a:rPr>
              <a:t>later public workbook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DA3A9-CAF5-411E-A711-463B937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Training_Set_updated_for_5d1_RFE17.xlsx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6EEE0-CF94-4B7C-A7E8-019ED9D3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358 rows / 19 columns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30F60-C7B1-41EC-9BB2-DC42CC3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single sheet; 330 unique compositions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A77F5-E503-486F-A283-CCDB5840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ECB7D-624B-452D-B4D8-40B1B1D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separate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0CBF0-20BD-4869-8D33-C351300D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8A9CB-9A0A-49B8-B966-38B2CA60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F960A-2256-443F-AB43-E150BD92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90FC8-E419-411B-B881-3CF52FA7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357-row original 是 paper-aligned 复现对象；358-row main 可单独快速 rerun，但必须标注 later public workbook。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E689B-DF19-4E3A-8CBE-70BE902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3CC06-1AC3-4BA2-B6CC-9AAD49B7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notes/zenodo-github-version-audit.md; notes/modeling-code-audit-ce3-excitation-band-baseline.md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DEEF1-EFA4-4BC8-B180-26F99F61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267537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B1CDC8A-31F2-41B7-97FA-618CB9EC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4">
            <a:extLst xmlns:a="http://schemas.openxmlformats.org/drawingml/2006/main">
              <a:ext uri="{FF2B5EF4-FFF2-40B4-BE49-F238E27FC236}">
                <a16:creationId xmlns:a16="http://schemas.microsoft.com/office/drawing/2014/main" id="{83817C36-0442-4D34-B63D-9F9ED737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4">
            <a:extLst xmlns:a="http://schemas.openxmlformats.org/drawingml/2006/main">
              <a:ext uri="{FF2B5EF4-FFF2-40B4-BE49-F238E27FC236}">
                <a16:creationId xmlns:a16="http://schemas.microsoft.com/office/drawing/2014/main" id="{61440673-11F2-4C4D-A6AE-328A4CE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6D4A5-7FCD-4178-B115-F94BCE4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225F8-2D16-43A3-B28A-FE2AC912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本地流程复现的是 released processed baseline，而不是 raw provenance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5D25B-2FD0-4536-ADB2-04EACE3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所有模型结论都限定在公开 processed workbook + frozen auxiliary features + composition-grouped LOGO 这个边界内。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F22D4-689A-45F8-A45C-982600B4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04266-B293-4C31-A7D9-72235B75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25510-8DD8-4022-8092-45291E88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DataCite -&gt;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83370-FC02-4592-9A88-87F8CA1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Zenodo DOI points to tree/original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F4D70-8368-4F89-B980-1740890F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004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0F8E8-3B61-4986-8D89-CA1F9E3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EF5AF-EE9D-4E2B-8188-0EAB878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24811-0937-48E1-A5F3-25B7EDAE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28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357-row RFE44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F186B-0650-4A7C-A7B4-2FE17ECC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81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5d1 target; 44 released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A7010-7DB7-46FE-A069-EF78BE0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04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C8E47-7B0D-408A-A128-A1EBCAF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F42D8-64B7-45EE-8209-9BCAA2B9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FA2E9-30CA-4D00-A8B9-EB6F6A8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Frozen CS/RP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149D5-693A-4C64-AD6D-A2D2ADDF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81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Predicted CS/RP used as released columns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A90E0-C7C9-468D-BDEC-49BECB1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04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668F8-E0E4-432D-832B-34443F4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6390D-D06D-4CA7-BDEA-587B5D1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5F726-BEC4-40E1-B512-4D0FDC11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LOGO split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ECA74-3940-47C3-BE44-8EAAB60F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LeaveOneGroupOut by Composition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46E06-2975-4C36-9DC7-49B6910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04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4A8F4-D9E8-446F-95F3-4198A32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6DFC96-A6B1-4C56-A46C-1FB3381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DA4FB-AEB0-4341-B3EB-BAC085A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Metric reporting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E42A3-8BCF-4929-91EF-86AECF2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81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fold-mean and global metrics separated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E80444-BD8E-41A1-BE8D-66268E12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83423-FCDB-48F2-854A-47096C4B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B45B2-52EB-4030-AF50-F98A35D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951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Validation boundary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73A94-80E1-4564-98CE-F50BC26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9515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LOGO by Composition 不是 source-aware split。公开 workbook 缺 DOI/year/source/in-house 字段，因此不能从本表单独完成 provenance-faithful full reproduction。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5A27F1-F814-46F0-8BA8-2B55C12E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884BE1-4528-41FE-AD04-CDD6526D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reproductions/ce3_original_baseline/report.md; reproductions/ce3_original_baseline/dataset_profile.json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147F08-6CEF-4778-9772-A52AEDE7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9861518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62C1EE-EA43-4B37-8782-25A7D87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5">
            <a:extLst xmlns:a="http://schemas.openxmlformats.org/drawingml/2006/main">
              <a:ext uri="{FF2B5EF4-FFF2-40B4-BE49-F238E27FC236}">
                <a16:creationId xmlns:a16="http://schemas.microsoft.com/office/drawing/2014/main" id="{0E3702A4-2232-405E-AB64-323C4099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5">
            <a:extLst xmlns:a="http://schemas.openxmlformats.org/drawingml/2006/main">
              <a:ext uri="{FF2B5EF4-FFF2-40B4-BE49-F238E27FC236}">
                <a16:creationId xmlns:a16="http://schemas.microsoft.com/office/drawing/2014/main" id="{9517D28C-49BB-4D33-A22E-55CF9D5A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BASELINE RERUN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0A0C4-536D-468A-ACE6-1D54748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E6FD9-40D7-4C68-B932-BBD1A34A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Seed=42 CPU rerun 是可重复项目基线，且显著优于 naive baselines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3B7BD-BF51-41BE-A53A-0A02939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这里展示 deterministic baseline，不把它误写成最接近 notebook saved output 的配置。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14141-3245-4666-B0EB-D1191B63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F2991-5032-46A6-A2D1-62BA061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9AA08-D883-4556-9269-EEF6CDE0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0.161535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D94A7-D6FD-4023-BF31-E93DBB0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XGBoost fold-mean 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B7E22-4AD1-45C1-8028-5A796BA5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eV; original params; CPU seed=42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0E6BA-5CFC-4D58-8CFA-24F6CE88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233C0-4E52-4641-BB71-8CC3097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62BA4-9D2E-4278-9703-5FFC64B6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908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0.160836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5CCC7-E62A-46E7-A595-EF27273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099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global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8E12E-976A-4F91-A17C-06A1D1D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147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eV over all held-out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D477E-C8DE-4286-847C-36E3A563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3A547-2684-4CE0-9A2B-4AA0FBB1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5D351-3CBA-43A7-9F48-EA7CFAF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0.826486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12EBD-361D-4CC9-BA16-AD9CAAB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global R2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97CB7-7E99-42D8-AD89-B33FDBB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unitless; eV target 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54CFF-FFDB-448D-9831-833A0293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003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5BA3E-A6D4-408E-8454-BAF3A0C1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00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0A43A-6B57-449A-BBC4-964D977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908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~0.421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11C1E-717F-471A-A673-7DF9AED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099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mean/median baseline MAE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98827-BCC9-4852-8E9C-F085FFF3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147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fold-mean MAE eV under same split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B2F3A-55CD-4C6E-9037-CD4BB1CC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47C7C9-5E08-425F-A75C-6710646F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62475"/>
            <a:ext cx="230793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58649-D2EC-4E9B-81D6-D1A1CFE9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0.161535 eV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83F122-C810-43BE-B855-9FF2CC4D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Train mean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1DFAC-6A05-4E5F-A524-E05D91D2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62525"/>
            <a:ext cx="60174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E9B8A-65E5-44AB-8E79-520161B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244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0.421168 eV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244F4-DCC6-438F-AF3E-52A5765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244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Train median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7CEDD-DCCD-4136-A1D5-78A38929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62575"/>
            <a:ext cx="600267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B7BEA7-F119-4FA2-8BF4-247D8B89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244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0.420135 eV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51CA6-2CAB-448A-91A8-8914D38B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1AB6B8-61EE-48E1-9514-5A57DF40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F4494B-E646-42C0-BEF0-803B24A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72150"/>
            <a:ext cx="927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Metric definition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979A7D-2B96-46A0-98B0-A67A320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38850"/>
            <a:ext cx="927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All bars are fold-mean MAE in eV under LeaveOneGroupOut grouped by Composition.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701233-42AC-482B-8936-25664C49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8FD34A-0465-429A-87F3-E22D4CE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results/tables/ce3_original_baseline/summary.json; reproductions/ce3_original_baseline/report.md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C8D129-FAB4-42BD-BCBE-2C6B1DAF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245306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23BD4BD-D0F2-48C4-AF3D-05EB38F3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6">
            <a:extLst xmlns:a="http://schemas.openxmlformats.org/drawingml/2006/main">
              <a:ext uri="{FF2B5EF4-FFF2-40B4-BE49-F238E27FC236}">
                <a16:creationId xmlns:a16="http://schemas.microsoft.com/office/drawing/2014/main" id="{7BC126FD-7A3E-4745-AE3B-35CE69F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6">
            <a:extLst xmlns:a="http://schemas.openxmlformats.org/drawingml/2006/main">
              <a:ext uri="{FF2B5EF4-FFF2-40B4-BE49-F238E27FC236}">
                <a16:creationId xmlns:a16="http://schemas.microsoft.com/office/drawing/2014/main" id="{3F2A28CF-98E1-4BB2-93E1-64AAE12F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METRIC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48A13-1E35-4085-A0FA-D4E48B5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65816-0374-4CDC-AA76-E9DCF5F4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Seed policy 解释了主要 metric gap，CPU unseeded/default 最接近 notebook saved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B4E20-8163-48F9-B451-F2F8A95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Notebook saved MAE = 0.153388 eV；closest local CPU unseeded/default MAE = 0.154993 eV。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9A7D2-17D8-45C1-9915-50313D8E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287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F6974-055A-43AE-B45E-536FA300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0511"/>
            <a:ext cx="876300" cy="3124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8BB6E-2605-4363-842B-FEBB4BA1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73811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38B94-26B8-430B-97B5-D0FBCF0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notebook saved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AFABB-799A-4F7A-A2BE-7699346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79167"/>
            <a:ext cx="876300" cy="673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5EB92-F1A3-4852-9E9C-677E47B7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2467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1B9A8-7FB3-4AD6-9E15-117D859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CPU unseeded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E0E0D-DCAF-4353-AC14-A5D8056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79167"/>
            <a:ext cx="876300" cy="673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2331C-B534-4C4A-87BA-FEDABCC6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12467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8493F-FC5C-48FE-895C-D7BDCE2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seed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4CCC2-CE04-4B82-9E9D-0B0A395A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16922"/>
            <a:ext cx="876300" cy="1036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26697-BEE0-4636-877D-3D61A2B3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0222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E77A5-5ECC-479B-94BF-8E729E4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seed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9D816-1396-457B-912B-7A5479E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414"/>
            <a:ext cx="876300" cy="1504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62748-7DD7-4ECB-8E34-D2CDCB5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714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25677-7B4A-48CE-97E9-757462D6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seed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CB2B6-2F35-4D0C-9979-9154FBE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1269"/>
            <a:ext cx="876300" cy="16617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6A37F-A0EC-473F-BD84-BEBCB20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4569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0.159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23AC2-B8DA-4288-87C5-9902A8E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seed42 n_jobs=1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C15FC-C22D-4CC4-8DE1-4040F12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41446"/>
            <a:ext cx="876300" cy="2111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4AF30-658A-4AF5-AE15-2AD32ED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4746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0.161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78724-FF74-4574-8560-96E1909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seed 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117E1-CC37-4D90-9A54-224F3CF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06325"/>
            <a:ext cx="876300" cy="214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15A61-9B81-49F2-980C-94B69FB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39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0.162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125A1-F95B-4C89-961E-C6BD72B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244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seed 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47C7B-3DD4-46DA-A42C-38D754E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fold-mean MAE (eV)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55BA05-0D95-451B-81C0-5920080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7F866-76D6-4835-B143-98B562C9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E75E3D-EA47-4D40-9791-C769FD37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27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Unresolved part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4F1726-24DE-4E83-B765-AB54387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81700"/>
            <a:ext cx="927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Residual +0.001605 eV MAE gap may reflect XGBoost version, CUDA/CPU behavior, or platform numerical differences; CUDA remains untested locally.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685F0-5401-4FEE-9A24-ADDA99EC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B5A8F-5C9C-419A-A988-38FC6FB1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results/tables/ce3_original_metric_gap/metric_gap_runs.csv; reproductions/ce3_original_metric_gap/report.md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57113-821C-4039-92DA-68377E7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1699690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46B47BA-5FAF-4529-9181-4DA956E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7">
            <a:extLst xmlns:a="http://schemas.openxmlformats.org/drawingml/2006/main">
              <a:ext uri="{FF2B5EF4-FFF2-40B4-BE49-F238E27FC236}">
                <a16:creationId xmlns:a16="http://schemas.microsoft.com/office/drawing/2014/main" id="{D97CFDE7-85B1-4CB5-A007-69FE0A97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7">
            <a:extLst xmlns:a="http://schemas.openxmlformats.org/drawingml/2006/main">
              <a:ext uri="{FF2B5EF4-FFF2-40B4-BE49-F238E27FC236}">
                <a16:creationId xmlns:a16="http://schemas.microsoft.com/office/drawing/2014/main" id="{F7901CB6-7DBF-4D43-86CB-A93A027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9BD68-C265-4E59-90A2-406E045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8D2D-1E09-428D-AD73-A99A21D2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公开 processed workbook 限制了 provenance-faithful full reproduction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43397-7CB5-4F80-B6BF-494310C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这些限制不是措辞问题，而是缺少必要 artifact 或 validation policy 未完全重建。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DD5AD-0401-454E-9C61-DD9A563E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238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A8551-4AA8-4BC7-9D56-0F185D7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ADC25-FE3E-4645-97F0-5B5D1C2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Missing provenance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D9FD2-8B72-4928-BD98-2EAEE313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4E378-08C9-4041-9173-76B504D0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source_doi / source_year absent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D8510-B3E6-4BD1-A937-4313FAEA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9C41-F9CF-4752-9C2A-B3357D3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measurement source metadata absent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C230D-3F69-43FC-BF74-EB626625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F8B50-9ECE-4B59-BE05-0D202C61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in-house vs literature flag absent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9850F-0CF4-4B91-873F-D82A05E6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3238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C150B-011F-4D59-86A7-F0A15B4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C1A42-9F32-451F-ABCF-23B2DF5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Validation caveats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47D8F-0396-4AFF-B318-5DC134DE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6C868-34BF-46E8-A993-B589546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LOGO is composition-aware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B6B02-19F9-4F74-BE7B-B34D290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BBF3E-C347-4F94-B8C2-F38B19D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Predicted CS/RP are frozen 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58284-B126-4F7D-8AE6-09400DE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E2953-BA11-495E-AB6C-36FD4A6A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auxiliary models not nested-regenerated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14B24-F26A-40FF-9231-DF463D5D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238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42E164-B87D-49D8-BD55-0E4C4EAA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57E25-79C2-4D2C-A88E-E8AF753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Environment gaps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9372E-BCFE-4F3E-A03B-6623408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424F2D-ED61-46B0-BB41-3F2C648B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Zenodo payload checksum blocked by 403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44299-01F4-4BBF-B57C-5593054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35E92-A0CB-46C2-927A-CCD6D0F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author CUDA/historical package stack not matched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598F3A-BAD2-4308-8DFB-12FBC377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75C3D-AADD-42E9-B1C8-AD84295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CUDA comparison skipped locally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5D69D-DE03-4FEF-A1F8-6824133C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1DBBB5-1040-4154-A561-F184A467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15FEBC-EF8E-47F0-B1CE-16B6C14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870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Conclusion boundary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CCDA26-7278-42A6-BE69-5314D07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70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Therefore: report completed processed-data baseline reproduction, not complete or provenance-faithful full reproduction.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96FC5-3576-408A-A994-865488B3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1285B8-749E-4F3E-BD3B-E749FFAF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reproductions/ce3_original_baseline/report.md; reproductions/ce3_original_metric_gap/report.md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99F0B5-75EC-43F3-B9A4-95019F7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5928741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94C8E3D-9D55-4A6F-B7FA-9584E8A2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8">
            <a:extLst xmlns:a="http://schemas.openxmlformats.org/drawingml/2006/main">
              <a:ext uri="{FF2B5EF4-FFF2-40B4-BE49-F238E27FC236}">
                <a16:creationId xmlns:a16="http://schemas.microsoft.com/office/drawing/2014/main" id="{917348C6-FB79-4827-88AB-8565CEA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8">
            <a:extLst xmlns:a="http://schemas.openxmlformats.org/drawingml/2006/main">
              <a:ext uri="{FF2B5EF4-FFF2-40B4-BE49-F238E27FC236}">
                <a16:creationId xmlns:a16="http://schemas.microsoft.com/office/drawing/2014/main" id="{17EDACED-73A1-4916-884E-E72BE76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15A65-538B-4507-8673-7F13398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91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4820-3E76-4421-A9E7-2457072A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现在可防守的结论是 version-aware、seed-aware、provenance-aware 的有限复现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3CD81-7634-4ED9-A5DE-00A64720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组会重点应放在证据边界和下一步能提高 claim strength 的 artifact。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D4586-2DD6-41AE-9090-DE4BBFC0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190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D5048-643F-4820-B2EB-0D50244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296CB-5A38-417B-8FA1-A0F8747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847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E3B88-25DD-4C63-A326-B2A4A3E8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2847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original 357-row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A3FE8-0D0E-44F1-9735-E2F3848C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8479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paper-aligned; metrics from later main must stay separate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10927-79BC-4007-87B1-E125A44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3190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973C0-20AA-41E2-AA73-85772ABE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AE443-DC16-4BAB-8D2D-54D5FA7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847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95BDE-100A-42EE-A530-98370AD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847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two rerun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34F0C-5D4E-4561-B252-2922FF64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28479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CPU unseeded/default for closest notebook comparison; seed=42 for deterministic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24EA9-996B-4AA1-A2B5-79A16D45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190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7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ADAFC-CA99-49EF-9338-7C225884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17242-84DF-4F96-B60D-4C1258A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47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32A27-79B7-4692-BC00-9C2567A9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847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Name missing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5B69C-0EA0-4B01-AEB7-A874876F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8479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row-level provenance, nested CS/RP regeneration, CUDA/historical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2D823-4FAB-45D4-A732-FE60D98B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486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0478">
            <a:solidFill>
              <a:srgbClr val="D8C5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199085-EC4D-4459-A1F5-1CA6ED2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563E4-EFFD-4FBA-88C3-99D77370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67225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First next actions after group meeting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A6198-A3B0-41ED-B5F3-85B992B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33925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Recover or reconstruct row-level DOI/year/source flags; implement nested auxiliary CS/RP regeneration if strict validation is required; optionally run 358-row main only as a clearly labeled later-public-workbook track.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01BC66-E93D-4147-8E30-1F69E66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 not mix versions. Do not overclaim. Do not turn model outputs into experimental facts.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3D0454-607E-49D9-849B-199D8BC3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F4875-861C-4EBD-B44F-D7E8C73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976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Source: manuscript/ce3_group_meeting_outline.md; manuscript/ce3_group_meeting_script.md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8F40A-81DB-423C-A3AB-24A33785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Ce3+ 5d1 reproduction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632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2026-05-25T06:59:20.0900000Z</dcterms:created>
  <dcterms:modified xsi:type="dcterms:W3CDTF">2026-05-25T06:59:20.0910000Z</dcterms:modified>
</coreProperties>
</file>